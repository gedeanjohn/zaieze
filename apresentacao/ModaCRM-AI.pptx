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0584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Georgia"/>
              </a:rPr>
              <a:t>Moda</a:t>
            </a:r>
            <a:r>
              <a:rPr sz="6000" b="1">
                <a:solidFill>
                  <a:srgbClr val="C2552B"/>
                </a:solidFill>
                <a:latin typeface="Georgia"/>
              </a:rPr>
              <a:t>CRM</a:t>
            </a:r>
            <a:r>
              <a:rPr sz="6000" b="1">
                <a:solidFill>
                  <a:srgbClr val="FFFFFF"/>
                </a:solidFill>
                <a:latin typeface="Georgia"/>
              </a:rPr>
              <a:t> AI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D8CFC8"/>
                </a:solidFill>
                <a:latin typeface="Segoe UI"/>
              </a:rPr>
              <a:t>A plataforma de vendas, relacionamento e estoque para lojas de moda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A89D96"/>
                </a:solidFill>
                <a:latin typeface="Segoe UI"/>
              </a:rPr>
              <a:t>O “Salesforce da Moda” — </a:t>
            </a:r>
            <a:r>
              <a:rPr sz="1800" b="1">
                <a:solidFill>
                  <a:srgbClr val="E8A87C"/>
                </a:solidFill>
                <a:latin typeface="Segoe UI"/>
              </a:rPr>
              <a:t>CRM + WhatsApp + IA por vendedora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8521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A89D96"/>
                </a:solidFill>
                <a:latin typeface="Segoe UI"/>
              </a:rPr>
              <a:t>Demonstração do produto  ·  Fases 1 a 3 concluídas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552B"/>
                </a:solidFill>
                <a:latin typeface="Segoe UI"/>
              </a:rPr>
              <a:t>POR QUE EXISTIMOS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13232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B2320"/>
                </a:solidFill>
                <a:latin typeface="Georgia"/>
              </a:rPr>
              <a:t>A loja de moda perde venda no relacionamento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80160"/>
            <a:ext cx="2011680" cy="64008"/>
          </a:xfrm>
          <a:prstGeom prst="round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52578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4709160" cy="1417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2B2320"/>
                </a:solidFill>
                <a:latin typeface="Georgia"/>
              </a:rPr>
              <a:t>🧩  Carteira na cabeça da vendedora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7D716B"/>
                </a:solidFill>
                <a:latin typeface="Segoe UI"/>
              </a:rPr>
              <a:t>Quando ela sai, os clientes vão junto. Nada fica registrado.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74519"/>
            <a:ext cx="52578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709160" cy="1417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2B2320"/>
                </a:solidFill>
                <a:latin typeface="Georgia"/>
              </a:rPr>
              <a:t>💤  Cliente some e ninguém percebe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7D716B"/>
                </a:solidFill>
                <a:latin typeface="Segoe UI"/>
              </a:rPr>
              <a:t>Sem alerta de inatividade, a recompra simplesmente não acontece.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31920"/>
            <a:ext cx="52578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60520"/>
            <a:ext cx="4709160" cy="1417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2B2320"/>
                </a:solidFill>
                <a:latin typeface="Georgia"/>
              </a:rPr>
              <a:t>📦  Estoque e vendas desconectados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7D716B"/>
                </a:solidFill>
                <a:latin typeface="Segoe UI"/>
              </a:rPr>
              <a:t>Grade por cor/tamanho no caderno; encalhe e ruptura passam batido.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931920"/>
            <a:ext cx="52578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4160520"/>
            <a:ext cx="4709160" cy="14173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2B2320"/>
                </a:solidFill>
                <a:latin typeface="Georgia"/>
              </a:rPr>
              <a:t>📣  Disparo genérico no WhatsApp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7D716B"/>
                </a:solidFill>
                <a:latin typeface="Segoe UI"/>
              </a:rPr>
              <a:t>Mesma mensagem para todo mundo — baixa conversão e descadastro.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5566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ModaCRM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552B"/>
                </a:solidFill>
                <a:latin typeface="Segoe UI"/>
              </a:rPr>
              <a:t>O QUE 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13232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B2320"/>
                </a:solidFill>
                <a:latin typeface="Georgia"/>
              </a:rPr>
              <a:t>Um sistema, toda a operação de moda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80160"/>
            <a:ext cx="2011680" cy="64008"/>
          </a:xfrm>
          <a:prstGeom prst="round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456432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309067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📊  Dashboard &amp; metas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2272" y="1828800"/>
            <a:ext cx="3456432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1828800"/>
            <a:ext cx="309067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🛒  Vendas + PDV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3" y="1828800"/>
            <a:ext cx="3456432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1828800"/>
            <a:ext cx="309067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🏷️  Estoque em grade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090672"/>
            <a:ext cx="3456432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90672"/>
            <a:ext cx="309067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👗  Carteira inteligente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62272" y="3090672"/>
            <a:ext cx="3456432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3090672"/>
            <a:ext cx="309067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🤖  IA Vendedora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3" y="3090672"/>
            <a:ext cx="3456432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0183" y="3090672"/>
            <a:ext cx="309067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📱  WhatsApp por vendedora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352544"/>
            <a:ext cx="3456432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352544"/>
            <a:ext cx="309067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🎯  Disparos personalizados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62272" y="4352544"/>
            <a:ext cx="3456432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90872" y="4352544"/>
            <a:ext cx="309067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🔁  Recuperação de inativos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4352544"/>
            <a:ext cx="3456432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3" y="4352544"/>
            <a:ext cx="309067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🏆  Ranking &amp; comissão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614416"/>
            <a:ext cx="3456432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614416"/>
            <a:ext cx="309067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🛍️  Catálogo da vendedora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62272" y="5614416"/>
            <a:ext cx="3456432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90872" y="5614416"/>
            <a:ext cx="309067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🧥  Provador virtual IA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1583" y="5614416"/>
            <a:ext cx="3456432" cy="1060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0183" y="5614416"/>
            <a:ext cx="309067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📦  Atacado &amp; portal cliente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2552B"/>
                </a:solidFill>
                <a:latin typeface="Segoe UI"/>
              </a:rPr>
              <a:t>★ Diferencial: </a:t>
            </a:r>
            <a:r>
              <a:rPr sz="1400" b="0">
                <a:solidFill>
                  <a:srgbClr val="7D716B"/>
                </a:solidFill>
                <a:latin typeface="Segoe UI"/>
              </a:rPr>
              <a:t>Radar de Oportunidades — cruza estoque parado × perfil do cliente e dispara em 1 clique.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45566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ModaCRM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552B"/>
                </a:solidFill>
                <a:latin typeface="Segoe UI"/>
              </a:rPr>
              <a:t>COMO É CONSTRUÍDO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13232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B2320"/>
                </a:solidFill>
                <a:latin typeface="Georgia"/>
              </a:rPr>
              <a:t>SaaS multi-tenant, isolado por hierarquia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80160"/>
            <a:ext cx="2011680" cy="64008"/>
          </a:xfrm>
          <a:prstGeom prst="round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1965960" cy="868680"/>
          </a:xfrm>
          <a:prstGeom prst="roundRect">
            <a:avLst/>
          </a:prstGeom>
          <a:solidFill>
            <a:srgbClr val="C2552B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96596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Rede / Marca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52344" y="2176272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2552B"/>
                </a:solidFill>
                <a:latin typeface="Segoe U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53512" y="2011680"/>
            <a:ext cx="19659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3512" y="2011680"/>
            <a:ext cx="196596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B2320"/>
                </a:solidFill>
                <a:latin typeface="Segoe UI"/>
              </a:rPr>
              <a:t>Loja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896" y="2176272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2552B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84064" y="2011680"/>
            <a:ext cx="19659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4" y="2011680"/>
            <a:ext cx="196596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B2320"/>
                </a:solidFill>
                <a:latin typeface="Segoe UI"/>
              </a:rPr>
              <a:t>Equipe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3448" y="2176272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2552B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616" y="2011680"/>
            <a:ext cx="19659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14616" y="2011680"/>
            <a:ext cx="196596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B2320"/>
                </a:solidFill>
                <a:latin typeface="Segoe UI"/>
              </a:rPr>
              <a:t>Vendedora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176272"/>
            <a:ext cx="274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2552B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45168" y="2011680"/>
            <a:ext cx="19659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45168" y="2011680"/>
            <a:ext cx="196596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B2320"/>
                </a:solidFill>
                <a:latin typeface="Segoe UI"/>
              </a:rPr>
              <a:t>Cliente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383280"/>
            <a:ext cx="5212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66160"/>
            <a:ext cx="4663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2552B"/>
                </a:solidFill>
                <a:latin typeface="Segoe UI"/>
              </a:rPr>
              <a:t>Stack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7D716B"/>
                </a:solidFill>
                <a:latin typeface="Segoe UI"/>
              </a:rPr>
              <a:t>Node.js · Fastify · Prisma · PostgreSQL · React + Vite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383280"/>
            <a:ext cx="5212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566160"/>
            <a:ext cx="4663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2552B"/>
                </a:solidFill>
                <a:latin typeface="Segoe UI"/>
              </a:rPr>
              <a:t>Segurança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7D716B"/>
                </a:solidFill>
                <a:latin typeface="Segoe UI"/>
              </a:rPr>
              <a:t>JWT + RBAC; isolamento de carteira aplicado no backend, não só na 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709160"/>
            <a:ext cx="5212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892040"/>
            <a:ext cx="4663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2552B"/>
                </a:solidFill>
                <a:latin typeface="Segoe UI"/>
              </a:rPr>
              <a:t>Integrações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7D716B"/>
                </a:solidFill>
                <a:latin typeface="Segoe UI"/>
              </a:rPr>
              <a:t>WhatsApp (Evolution API) · IA (Claude) · Instagram/Meta Ads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709160"/>
            <a:ext cx="5212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4892040"/>
            <a:ext cx="46634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2552B"/>
                </a:solidFill>
                <a:latin typeface="Segoe UI"/>
              </a:rPr>
              <a:t>Planos SaaS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0">
                <a:solidFill>
                  <a:srgbClr val="7D716B"/>
                </a:solidFill>
                <a:latin typeface="Segoe UI"/>
              </a:rPr>
              <a:t>Start · Pro · Elite (multi-lojas) com limites aplicados no servidor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45566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ModaCRM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552B"/>
                </a:solidFill>
                <a:latin typeface="Segoe UI"/>
              </a:rPr>
              <a:t>ONDE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13232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B2320"/>
                </a:solidFill>
                <a:latin typeface="Georgia"/>
              </a:rPr>
              <a:t>7 fases entregues e rodando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80160"/>
            <a:ext cx="2011680" cy="64008"/>
          </a:xfrm>
          <a:prstGeom prst="round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27632"/>
            <a:ext cx="105156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627632"/>
            <a:ext cx="118872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691640"/>
            <a:ext cx="10058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E7D32"/>
                </a:solidFill>
                <a:latin typeface="Segoe UI"/>
              </a:rPr>
              <a:t>✓  </a:t>
            </a:r>
            <a:r>
              <a:rPr sz="1450" b="1">
                <a:solidFill>
                  <a:srgbClr val="2B2320"/>
                </a:solidFill>
                <a:latin typeface="Georgia"/>
              </a:rPr>
              <a:t>Fase 1 — Fundação</a:t>
            </a:r>
            <a:r>
              <a:rPr sz="1250" b="0">
                <a:solidFill>
                  <a:srgbClr val="7D716B"/>
                </a:solidFill>
                <a:latin typeface="Segoe UI"/>
              </a:rPr>
              <a:t>   —   Auth multi-tenant, RBAC, CRUD com grade (cor × tamanho).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304288"/>
            <a:ext cx="105156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304288"/>
            <a:ext cx="118872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368296"/>
            <a:ext cx="10058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E7D32"/>
                </a:solidFill>
                <a:latin typeface="Segoe UI"/>
              </a:rPr>
              <a:t>✓  </a:t>
            </a:r>
            <a:r>
              <a:rPr sz="1450" b="1">
                <a:solidFill>
                  <a:srgbClr val="2B2320"/>
                </a:solidFill>
                <a:latin typeface="Georgia"/>
              </a:rPr>
              <a:t>Fase 2 — Vendas + Estoque</a:t>
            </a:r>
            <a:r>
              <a:rPr sz="1250" b="0">
                <a:solidFill>
                  <a:srgbClr val="7D716B"/>
                </a:solidFill>
                <a:latin typeface="Segoe UI"/>
              </a:rPr>
              <a:t>   —   PDV com baixa atômica + dashboards hierárquicos.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2980944"/>
            <a:ext cx="118872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044951"/>
            <a:ext cx="10058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E7D32"/>
                </a:solidFill>
                <a:latin typeface="Segoe UI"/>
              </a:rPr>
              <a:t>✓  </a:t>
            </a:r>
            <a:r>
              <a:rPr sz="1450" b="1">
                <a:solidFill>
                  <a:srgbClr val="2B2320"/>
                </a:solidFill>
                <a:latin typeface="Georgia"/>
              </a:rPr>
              <a:t>Fase 3 — CRM</a:t>
            </a:r>
            <a:r>
              <a:rPr sz="1250" b="0">
                <a:solidFill>
                  <a:srgbClr val="7D716B"/>
                </a:solidFill>
                <a:latin typeface="Segoe UI"/>
              </a:rPr>
              <a:t>   —   Carteira por vendedora + segmentação automática.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57600"/>
            <a:ext cx="105156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657600"/>
            <a:ext cx="118872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721608"/>
            <a:ext cx="10058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E7D32"/>
                </a:solidFill>
                <a:latin typeface="Segoe UI"/>
              </a:rPr>
              <a:t>✓  </a:t>
            </a:r>
            <a:r>
              <a:rPr sz="1450" b="1">
                <a:solidFill>
                  <a:srgbClr val="2B2320"/>
                </a:solidFill>
                <a:latin typeface="Georgia"/>
              </a:rPr>
              <a:t>Fase 4 — WhatsApp</a:t>
            </a:r>
            <a:r>
              <a:rPr sz="1250" b="0">
                <a:solidFill>
                  <a:srgbClr val="7D716B"/>
                </a:solidFill>
                <a:latin typeface="Segoe UI"/>
              </a:rPr>
              <a:t>   —   Disparos por segmento (IA) + réguas de inativos + webhook.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334256"/>
            <a:ext cx="105156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334256"/>
            <a:ext cx="118872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398264"/>
            <a:ext cx="10058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E7D32"/>
                </a:solidFill>
                <a:latin typeface="Segoe UI"/>
              </a:rPr>
              <a:t>✓  </a:t>
            </a:r>
            <a:r>
              <a:rPr sz="1450" b="1">
                <a:solidFill>
                  <a:srgbClr val="2B2320"/>
                </a:solidFill>
                <a:latin typeface="Georgia"/>
              </a:rPr>
              <a:t>Fase 5 — IA / Radar ★</a:t>
            </a:r>
            <a:r>
              <a:rPr sz="1250" b="0">
                <a:solidFill>
                  <a:srgbClr val="7D716B"/>
                </a:solidFill>
                <a:latin typeface="Segoe UI"/>
              </a:rPr>
              <a:t>   —   Estoque inteligente + Radar de Oportunidades (1 clique).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010912"/>
            <a:ext cx="105156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118872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074920"/>
            <a:ext cx="10058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E7D32"/>
                </a:solidFill>
                <a:latin typeface="Segoe UI"/>
              </a:rPr>
              <a:t>✓  </a:t>
            </a:r>
            <a:r>
              <a:rPr sz="1450" b="1">
                <a:solidFill>
                  <a:srgbClr val="2B2320"/>
                </a:solidFill>
                <a:latin typeface="Georgia"/>
              </a:rPr>
              <a:t>Fase 6 — Comissão + Gamificação</a:t>
            </a:r>
            <a:r>
              <a:rPr sz="1250" b="0">
                <a:solidFill>
                  <a:srgbClr val="7D716B"/>
                </a:solidFill>
                <a:latin typeface="Segoe UI"/>
              </a:rPr>
              <a:t>   —   Comissão encadeada, ranking, mural.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687568"/>
            <a:ext cx="105156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687568"/>
            <a:ext cx="118872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751576"/>
            <a:ext cx="10058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E7D32"/>
                </a:solidFill>
                <a:latin typeface="Segoe UI"/>
              </a:rPr>
              <a:t>✓  </a:t>
            </a:r>
            <a:r>
              <a:rPr sz="1450" b="1">
                <a:solidFill>
                  <a:srgbClr val="2B2320"/>
                </a:solidFill>
                <a:latin typeface="Georgia"/>
              </a:rPr>
              <a:t>Fase 7 — Expansão</a:t>
            </a:r>
            <a:r>
              <a:rPr sz="1250" b="0">
                <a:solidFill>
                  <a:srgbClr val="7D716B"/>
                </a:solidFill>
                <a:latin typeface="Segoe UI"/>
              </a:rPr>
              <a:t>   —   Provador Virtual IA + Atacado.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4008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C2552B"/>
                </a:solidFill>
                <a:latin typeface="Segoe UI"/>
              </a:rPr>
              <a:t>+ extras: </a:t>
            </a:r>
            <a:r>
              <a:rPr sz="1250" b="0">
                <a:solidFill>
                  <a:srgbClr val="7D716B"/>
                </a:solidFill>
                <a:latin typeface="Segoe UI"/>
              </a:rPr>
              <a:t>forma de recebimento · produto/moda · gestor de estoque+entradas · transferências (radar de extravio) · gestão de gestores de estoque.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45566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ModaCRM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1280160"/>
          </a:xfrm>
          <a:prstGeom prst="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926080"/>
            <a:ext cx="1219169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DEMONSTRAÇÃO AO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D8CFC8"/>
                </a:solidFill>
                <a:latin typeface="Segoe UI"/>
              </a:rPr>
              <a:t>5 cenas · do gerente à vendedora à rede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5566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8F88"/>
                </a:solidFill>
                <a:latin typeface="Segoe UI"/>
              </a:rPr>
              <a:t>ModaCRM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8F88"/>
                </a:solidFill>
                <a:latin typeface="Segoe U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552B"/>
                </a:solidFill>
                <a:latin typeface="Segoe UI"/>
              </a:rPr>
              <a:t>LOGINS PARA A 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13232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B2320"/>
                </a:solidFill>
                <a:latin typeface="Georgia"/>
              </a:rPr>
              <a:t>Acessos de teste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80160"/>
            <a:ext cx="2011680" cy="64008"/>
          </a:xfrm>
          <a:prstGeom prst="round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457200"/>
          </a:xfrm>
          <a:prstGeom prst="roundRect">
            <a:avLst/>
          </a:prstGeom>
          <a:solidFill>
            <a:srgbClr val="2B2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65376"/>
            <a:ext cx="42062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Papel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865376"/>
            <a:ext cx="402336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E-mail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865376"/>
            <a:ext cx="23774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Senha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86000"/>
            <a:ext cx="105156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286000"/>
            <a:ext cx="42062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Segoe UI"/>
              </a:rPr>
              <a:t/>
            </a:r>
            <a:r>
              <a:rPr sz="1350" b="0">
                <a:solidFill>
                  <a:srgbClr val="2B2320"/>
                </a:solidFill>
                <a:latin typeface="Segoe UI"/>
              </a:rPr>
              <a:t>Super Admin · SaaS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8600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B2320"/>
                </a:solidFill>
                <a:latin typeface="Segoe UI"/>
              </a:rPr>
              <a:t>admin@modacrm.com.br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2286000"/>
            <a:ext cx="23774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Consolas"/>
              </a:rPr>
              <a:t>admin123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834640"/>
            <a:ext cx="10515600" cy="548640"/>
          </a:xfrm>
          <a:prstGeom prst="roundRect">
            <a:avLst/>
          </a:prstGeom>
          <a:solidFill>
            <a:srgbClr val="F5E3DA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834640"/>
            <a:ext cx="91440" cy="548640"/>
          </a:xfrm>
          <a:prstGeom prst="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2834640"/>
            <a:ext cx="42062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Segoe UI"/>
              </a:rPr>
              <a:t>★ </a:t>
            </a:r>
            <a:r>
              <a:rPr sz="1350" b="1">
                <a:solidFill>
                  <a:srgbClr val="2B2320"/>
                </a:solidFill>
                <a:latin typeface="Segoe UI"/>
              </a:rPr>
              <a:t>Gestor · rede Luna Brand (ELITE)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83464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B2320"/>
                </a:solidFill>
                <a:latin typeface="Segoe UI"/>
              </a:rPr>
              <a:t>gestor@lunabrand.com.br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2834640"/>
            <a:ext cx="23774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Consolas"/>
              </a:rPr>
              <a:t>gestor123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383280"/>
            <a:ext cx="105156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3383280"/>
            <a:ext cx="42062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Segoe UI"/>
              </a:rPr>
              <a:t/>
            </a:r>
            <a:r>
              <a:rPr sz="1350" b="0">
                <a:solidFill>
                  <a:srgbClr val="2B2320"/>
                </a:solidFill>
                <a:latin typeface="Segoe UI"/>
              </a:rPr>
              <a:t>Gestor de Estoque · rede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33832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B2320"/>
                </a:solidFill>
                <a:latin typeface="Segoe UI"/>
              </a:rPr>
              <a:t>estoquista@lunabrand.com.br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383280"/>
            <a:ext cx="23774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Consolas"/>
              </a:rPr>
              <a:t>estoque123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931920"/>
            <a:ext cx="10515600" cy="548640"/>
          </a:xfrm>
          <a:prstGeom prst="roundRect">
            <a:avLst/>
          </a:prstGeom>
          <a:solidFill>
            <a:srgbClr val="F5E3DA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3931920"/>
            <a:ext cx="91440" cy="548640"/>
          </a:xfrm>
          <a:prstGeom prst="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3931920"/>
            <a:ext cx="42062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Segoe UI"/>
              </a:rPr>
              <a:t>★ </a:t>
            </a:r>
            <a:r>
              <a:rPr sz="1350" b="1">
                <a:solidFill>
                  <a:srgbClr val="2B2320"/>
                </a:solidFill>
                <a:latin typeface="Segoe UI"/>
              </a:rPr>
              <a:t>Gerente · Loja Demo Moda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B2320"/>
                </a:solidFill>
                <a:latin typeface="Segoe UI"/>
              </a:rPr>
              <a:t>maria@lojademo.com.br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931920"/>
            <a:ext cx="23774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Consolas"/>
              </a:rPr>
              <a:t>demo123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480559"/>
            <a:ext cx="105156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4480559"/>
            <a:ext cx="42062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Segoe UI"/>
              </a:rPr>
              <a:t/>
            </a:r>
            <a:r>
              <a:rPr sz="1350" b="0">
                <a:solidFill>
                  <a:srgbClr val="2B2320"/>
                </a:solidFill>
                <a:latin typeface="Segoe UI"/>
              </a:rPr>
              <a:t>Gerente · Loja Shopping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4480559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B2320"/>
                </a:solidFill>
                <a:latin typeface="Segoe UI"/>
              </a:rPr>
              <a:t>paula@lojashopping.com.br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4480559"/>
            <a:ext cx="23774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Consolas"/>
              </a:rPr>
              <a:t>demo123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029199"/>
            <a:ext cx="10515600" cy="548640"/>
          </a:xfrm>
          <a:prstGeom prst="roundRect">
            <a:avLst/>
          </a:prstGeom>
          <a:solidFill>
            <a:srgbClr val="F5E3DA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5029199"/>
            <a:ext cx="91440" cy="548640"/>
          </a:xfrm>
          <a:prstGeom prst="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5029199"/>
            <a:ext cx="42062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Segoe UI"/>
              </a:rPr>
              <a:t>★ </a:t>
            </a:r>
            <a:r>
              <a:rPr sz="1350" b="1">
                <a:solidFill>
                  <a:srgbClr val="2B2320"/>
                </a:solidFill>
                <a:latin typeface="Segoe UI"/>
              </a:rPr>
              <a:t>Vendedora · Demo Moda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5029199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B2320"/>
                </a:solidFill>
                <a:latin typeface="Segoe UI"/>
              </a:rPr>
              <a:t>camila@lojademo.com.br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5029199"/>
            <a:ext cx="23774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Consolas"/>
              </a:rPr>
              <a:t>demo123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5577839"/>
            <a:ext cx="105156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5577839"/>
            <a:ext cx="42062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Segoe UI"/>
              </a:rPr>
              <a:t/>
            </a:r>
            <a:r>
              <a:rPr sz="1350" b="0">
                <a:solidFill>
                  <a:srgbClr val="2B2320"/>
                </a:solidFill>
                <a:latin typeface="Segoe UI"/>
              </a:rPr>
              <a:t>Vendedora · Demo Moda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5577839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B2320"/>
                </a:solidFill>
                <a:latin typeface="Segoe UI"/>
              </a:rPr>
              <a:t>ana@lojademo.com.br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5577839"/>
            <a:ext cx="23774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Consolas"/>
              </a:rPr>
              <a:t>demo123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6126479"/>
            <a:ext cx="105156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6126479"/>
            <a:ext cx="42062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Segoe UI"/>
              </a:rPr>
              <a:t/>
            </a:r>
            <a:r>
              <a:rPr sz="1350" b="0">
                <a:solidFill>
                  <a:srgbClr val="2B2320"/>
                </a:solidFill>
                <a:latin typeface="Segoe UI"/>
              </a:rPr>
              <a:t>Vendedora · Loja Shopping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6126479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2B2320"/>
                </a:solidFill>
                <a:latin typeface="Segoe UI"/>
              </a:rPr>
              <a:t>julia@lojashopping.com.br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6126479"/>
            <a:ext cx="23774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Consolas"/>
              </a:rPr>
              <a:t>demo123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6839711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C2552B"/>
                </a:solidFill>
                <a:latin typeface="Segoe UI"/>
              </a:rPr>
              <a:t>★ usados na demo  ·  </a:t>
            </a:r>
            <a:r>
              <a:rPr sz="1350" b="0">
                <a:solidFill>
                  <a:srgbClr val="7D716B"/>
                </a:solidFill>
                <a:latin typeface="Segoe UI"/>
              </a:rPr>
              <a:t>abra http://localhost:5184  ·  sequência: Maria → Camila → Gestor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45566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ModaCRM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552B"/>
                </a:solidFill>
                <a:latin typeface="Segoe UI"/>
              </a:rPr>
              <a:t>DEMO 1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13232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B2320"/>
                </a:solidFill>
                <a:latin typeface="Georgia"/>
              </a:rPr>
              <a:t>Dashboard do gerente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80160"/>
            <a:ext cx="2011680" cy="64008"/>
          </a:xfrm>
          <a:prstGeom prst="round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583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Faturamento do dia e do mês, ticket médio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Ranking de vendedoras com % da meta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Produtos mais vendidos e melhores clientes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Estoque crítico destacado automaticamente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965960"/>
            <a:ext cx="3566160" cy="1371600"/>
          </a:xfrm>
          <a:prstGeom prst="roundRect">
            <a:avLst/>
          </a:prstGeom>
          <a:solidFill>
            <a:srgbClr val="F5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2121408"/>
            <a:ext cx="3154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2552B"/>
                </a:solidFill>
                <a:latin typeface="Segoe UI"/>
              </a:rPr>
              <a:t>PERSONA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Maria · Gerente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D716B"/>
                </a:solidFill>
                <a:latin typeface="Segoe UI"/>
              </a:rPr>
              <a:t>maria@lojademo.com.br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520440"/>
            <a:ext cx="3566160" cy="2651760"/>
          </a:xfrm>
          <a:prstGeom prst="roundRect">
            <a:avLst/>
          </a:prstGeom>
          <a:solidFill>
            <a:srgbClr val="2B2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3703320"/>
            <a:ext cx="3154680" cy="2331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8A87C"/>
                </a:solidFill>
                <a:latin typeface="Segoe UI"/>
              </a:rPr>
              <a:t>💡 PONTO-CHAVE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Segoe UI"/>
              </a:rPr>
              <a:t>Em uma tela, a gerente vê a saúde da loja e quem está perto (ou longe) da meta.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5566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ModaCRM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552B"/>
                </a:solidFill>
                <a:latin typeface="Segoe UI"/>
              </a:rPr>
              <a:t>DEMO 2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13232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B2320"/>
                </a:solidFill>
                <a:latin typeface="Georgia"/>
              </a:rPr>
              <a:t>Vender e baixar estoque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80160"/>
            <a:ext cx="2011680" cy="64008"/>
          </a:xfrm>
          <a:prstGeom prst="round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583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Nova venda: cliente, vendedora e itens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Variação por cor/tamanho com estoque à vista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Preço varejo ou atacado, desconto e total ao vivo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Ao salvar, o estoque baixa por SKU na hora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965960"/>
            <a:ext cx="3566160" cy="1371600"/>
          </a:xfrm>
          <a:prstGeom prst="roundRect">
            <a:avLst/>
          </a:prstGeom>
          <a:solidFill>
            <a:srgbClr val="F5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2121408"/>
            <a:ext cx="3154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2552B"/>
                </a:solidFill>
                <a:latin typeface="Segoe UI"/>
              </a:rPr>
              <a:t>PERSONA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Maria · Gerente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D716B"/>
                </a:solidFill>
                <a:latin typeface="Segoe UI"/>
              </a:rPr>
              <a:t>maria@lojademo.com.br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520440"/>
            <a:ext cx="3566160" cy="2651760"/>
          </a:xfrm>
          <a:prstGeom prst="roundRect">
            <a:avLst/>
          </a:prstGeom>
          <a:solidFill>
            <a:srgbClr val="2B2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3703320"/>
            <a:ext cx="3154680" cy="2331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8A87C"/>
                </a:solidFill>
                <a:latin typeface="Segoe UI"/>
              </a:rPr>
              <a:t>💡 PONTO-CHAVE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Segoe UI"/>
              </a:rPr>
              <a:t>Venda e estoque deixam de ser dois mundos: cada venda movimenta o SKU e alimenta o dashboard.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5566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ModaCRM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552B"/>
                </a:solidFill>
                <a:latin typeface="Segoe UI"/>
              </a:rPr>
              <a:t>DEMO 3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13232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B2320"/>
                </a:solidFill>
                <a:latin typeface="Georgia"/>
              </a:rPr>
              <a:t>Segmentação automática (CRM)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80160"/>
            <a:ext cx="2011680" cy="64008"/>
          </a:xfrm>
          <a:prstGeom prst="round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583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Carteira mostra a distribuição por segmento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Clique em “Recalcular segmentação”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Clientes se reclassificam pelo histórico real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Abra uma ficha: histórico + alerta de recuperação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965960"/>
            <a:ext cx="3566160" cy="1371600"/>
          </a:xfrm>
          <a:prstGeom prst="roundRect">
            <a:avLst/>
          </a:prstGeom>
          <a:solidFill>
            <a:srgbClr val="F5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2121408"/>
            <a:ext cx="3154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2552B"/>
                </a:solidFill>
                <a:latin typeface="Segoe UI"/>
              </a:rPr>
              <a:t>PERSONA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Maria · Gerente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D716B"/>
                </a:solidFill>
                <a:latin typeface="Segoe UI"/>
              </a:rPr>
              <a:t>maria@lojademo.com.br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520440"/>
            <a:ext cx="3566160" cy="2651760"/>
          </a:xfrm>
          <a:prstGeom prst="roundRect">
            <a:avLst/>
          </a:prstGeom>
          <a:solidFill>
            <a:srgbClr val="2B2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3703320"/>
            <a:ext cx="3154680" cy="2331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8A87C"/>
                </a:solidFill>
                <a:latin typeface="Segoe UI"/>
              </a:rPr>
              <a:t>💡 PONTO-CHAVE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Segoe UI"/>
              </a:rPr>
              <a:t>O sistema lê as compras e decide sozinho quem é VIP, Frequente, Novo, Atacado ou Inativo — e aponta quem recuperar.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5566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ModaCRM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552B"/>
                </a:solidFill>
                <a:latin typeface="Segoe UI"/>
              </a:rPr>
              <a:t>DEMO 4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13232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B2320"/>
                </a:solidFill>
                <a:latin typeface="Georgia"/>
              </a:rPr>
              <a:t>Isolamento da carteira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80160"/>
            <a:ext cx="2011680" cy="64008"/>
          </a:xfrm>
          <a:prstGeom prst="round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583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Login como vendedora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Vê apenas os próprios clientes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Dashboard mostra só o desempenho dela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Não acessa vendas/carteira das colegas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965960"/>
            <a:ext cx="3566160" cy="1371600"/>
          </a:xfrm>
          <a:prstGeom prst="roundRect">
            <a:avLst/>
          </a:prstGeom>
          <a:solidFill>
            <a:srgbClr val="F5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2121408"/>
            <a:ext cx="3154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2552B"/>
                </a:solidFill>
                <a:latin typeface="Segoe UI"/>
              </a:rPr>
              <a:t>PERSONA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Camila · Vendedora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D716B"/>
                </a:solidFill>
                <a:latin typeface="Segoe UI"/>
              </a:rPr>
              <a:t>camila@lojademo.com.br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520440"/>
            <a:ext cx="3566160" cy="2651760"/>
          </a:xfrm>
          <a:prstGeom prst="roundRect">
            <a:avLst/>
          </a:prstGeom>
          <a:solidFill>
            <a:srgbClr val="2B2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3703320"/>
            <a:ext cx="3154680" cy="2331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8A87C"/>
                </a:solidFill>
                <a:latin typeface="Segoe UI"/>
              </a:rPr>
              <a:t>💡 PONTO-CHAVE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Segoe UI"/>
              </a:rPr>
              <a:t>Privacidade da carteira garantida no backend — não é só esconder na tela. Confiança da equipe.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5566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ModaCRM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552B"/>
                </a:solidFill>
                <a:latin typeface="Segoe UI"/>
              </a:rPr>
              <a:t>DEMO 5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13232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B2320"/>
                </a:solidFill>
                <a:latin typeface="Georgia"/>
              </a:rPr>
              <a:t>Visão da rede (multi-lojas)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80160"/>
            <a:ext cx="2011680" cy="64008"/>
          </a:xfrm>
          <a:prstGeom prst="round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5836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Login como gestor da marca (plano Elite)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Consolidado de faturamento da rede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Comparativo loja a loja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>
                <a:solidFill>
                  <a:srgbClr val="C2552B"/>
                </a:solidFill>
                <a:latin typeface="Segoe UI"/>
              </a:rPr>
              <a:t>●  </a:t>
            </a:r>
            <a:r>
              <a:rPr sz="1700" b="0">
                <a:solidFill>
                  <a:srgbClr val="2B2320"/>
                </a:solidFill>
                <a:latin typeface="Segoe UI"/>
              </a:rPr>
              <a:t>Drill-down para o dashboard de cada loja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965960"/>
            <a:ext cx="3566160" cy="1371600"/>
          </a:xfrm>
          <a:prstGeom prst="roundRect">
            <a:avLst/>
          </a:prstGeom>
          <a:solidFill>
            <a:srgbClr val="F5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2121408"/>
            <a:ext cx="3154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2552B"/>
                </a:solidFill>
                <a:latin typeface="Segoe UI"/>
              </a:rPr>
              <a:t>PERSONA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2B2320"/>
                </a:solidFill>
                <a:latin typeface="Segoe UI"/>
              </a:rPr>
              <a:t>Gustavo · Gestor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D716B"/>
                </a:solidFill>
                <a:latin typeface="Segoe UI"/>
              </a:rPr>
              <a:t>gestor@lunabrand.com.br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520440"/>
            <a:ext cx="3566160" cy="2651760"/>
          </a:xfrm>
          <a:prstGeom prst="roundRect">
            <a:avLst/>
          </a:prstGeom>
          <a:solidFill>
            <a:srgbClr val="2B2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3703320"/>
            <a:ext cx="3154680" cy="2331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8A87C"/>
                </a:solidFill>
                <a:latin typeface="Segoe UI"/>
              </a:rPr>
              <a:t>💡 PONTO-CHAVE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Segoe UI"/>
              </a:rPr>
              <a:t>Do balcão à rede: a marca enxerga todas as lojas em um só painel, com isolamento por loja preservado.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5566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ModaCRM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552B"/>
                </a:solidFill>
                <a:latin typeface="Segoe UI"/>
              </a:rPr>
              <a:t>O DIFERENCIAL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★ Radar de Oportunidades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00200"/>
            <a:ext cx="2011680" cy="64008"/>
          </a:xfrm>
          <a:prstGeom prst="round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456432" cy="2468880"/>
          </a:xfrm>
          <a:prstGeom prst="roundRect">
            <a:avLst/>
          </a:prstGeom>
          <a:solidFill>
            <a:srgbClr val="39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377439"/>
            <a:ext cx="2816352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C2552B"/>
                </a:solidFill>
                <a:latin typeface="Georgia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Estoque parado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50" b="0">
                <a:solidFill>
                  <a:srgbClr val="D8CFC8"/>
                </a:solidFill>
                <a:latin typeface="Segoe UI"/>
              </a:rPr>
              <a:t>A IA identifica peças encalhadas e em risco de ruptura.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9432" y="2103120"/>
            <a:ext cx="3456432" cy="2468880"/>
          </a:xfrm>
          <a:prstGeom prst="roundRect">
            <a:avLst/>
          </a:prstGeom>
          <a:solidFill>
            <a:srgbClr val="39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19472" y="2377439"/>
            <a:ext cx="2816352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C2552B"/>
                </a:solidFill>
                <a:latin typeface="Georgia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Perfil do cliente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50" b="0">
                <a:solidFill>
                  <a:srgbClr val="D8CFC8"/>
                </a:solidFill>
                <a:latin typeface="Segoe UI"/>
              </a:rPr>
              <a:t>Cruza com quem compra aquele estilo, cor, tamanho ou marca.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75904" y="2103120"/>
            <a:ext cx="3456432" cy="2468880"/>
          </a:xfrm>
          <a:prstGeom prst="roundRect">
            <a:avLst/>
          </a:prstGeom>
          <a:solidFill>
            <a:srgbClr val="392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95944" y="2377439"/>
            <a:ext cx="2816352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C2552B"/>
                </a:solidFill>
                <a:latin typeface="Georgia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Disparo em 1 clique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50" b="0">
                <a:solidFill>
                  <a:srgbClr val="D8CFC8"/>
                </a:solidFill>
                <a:latin typeface="Segoe UI"/>
              </a:rPr>
              <a:t>Gera a campanha de WhatsApp personalizada e envia pela vendedora dona.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8A87C"/>
                </a:solidFill>
                <a:latin typeface="Segoe UI"/>
              </a:rPr>
              <a:t>Transforma estoque parado em receita — a oportunidade certa, para o cliente certo, pela vendedora certa.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5566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8F88"/>
                </a:solidFill>
                <a:latin typeface="Segoe UI"/>
              </a:rPr>
              <a:t>ModaCRM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8F88"/>
                </a:solidFill>
                <a:latin typeface="Segoe U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552B"/>
                </a:solidFill>
                <a:latin typeface="Segoe UI"/>
              </a:rPr>
              <a:t>MODELO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13232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B2320"/>
                </a:solidFill>
                <a:latin typeface="Georgia"/>
              </a:rPr>
              <a:t>SaaS recorrente, por porte da operação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80160"/>
            <a:ext cx="2011680" cy="64008"/>
          </a:xfrm>
          <a:prstGeom prst="round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3456432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40280"/>
            <a:ext cx="2724911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2B2320"/>
                </a:solidFill>
                <a:latin typeface="Georgia"/>
              </a:rPr>
              <a:t>Start</a:t>
            </a:r>
          </a:p>
          <a:p>
            <a:pPr algn="l">
              <a:spcAft>
                <a:spcPts val="1200"/>
              </a:spcAft>
            </a:pPr>
            <a:r>
              <a:rPr sz="3000" b="1">
                <a:solidFill>
                  <a:srgbClr val="2B2320"/>
                </a:solidFill>
                <a:latin typeface="Segoe UI"/>
              </a:rPr>
              <a:t>R$ 97</a:t>
            </a:r>
            <a:r>
              <a:rPr sz="1500" b="0">
                <a:solidFill>
                  <a:srgbClr val="7D716B"/>
                </a:solidFill>
                <a:latin typeface="Segoe UI"/>
              </a:rPr>
              <a:t>/mês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>
                <a:solidFill>
                  <a:srgbClr val="2E7D32"/>
                </a:solidFill>
                <a:latin typeface="Segoe UI"/>
              </a:rPr>
              <a:t>✓  </a:t>
            </a:r>
            <a:r>
              <a:rPr sz="1450" b="0">
                <a:solidFill>
                  <a:srgbClr val="2B2320"/>
                </a:solidFill>
                <a:latin typeface="Segoe UI"/>
              </a:rPr>
              <a:t>Até 2 vendedoras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>
                <a:solidFill>
                  <a:srgbClr val="2E7D32"/>
                </a:solidFill>
                <a:latin typeface="Segoe UI"/>
              </a:rPr>
              <a:t>✓  </a:t>
            </a:r>
            <a:r>
              <a:rPr sz="1450" b="0">
                <a:solidFill>
                  <a:srgbClr val="2B2320"/>
                </a:solidFill>
                <a:latin typeface="Segoe UI"/>
              </a:rPr>
              <a:t>1 loja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>
                <a:solidFill>
                  <a:srgbClr val="2E7D32"/>
                </a:solidFill>
                <a:latin typeface="Segoe UI"/>
              </a:rPr>
              <a:t>✓  </a:t>
            </a:r>
            <a:r>
              <a:rPr sz="1450" b="0">
                <a:solidFill>
                  <a:srgbClr val="2B2320"/>
                </a:solidFill>
                <a:latin typeface="Segoe UI"/>
              </a:rPr>
              <a:t>CRM + Vendas + Estoque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9432" y="1920240"/>
            <a:ext cx="3456432" cy="3840480"/>
          </a:xfrm>
          <a:prstGeom prst="round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65192" y="2240280"/>
            <a:ext cx="2724911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MAIS POPULAR</a:t>
            </a:r>
          </a:p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Pro</a:t>
            </a:r>
          </a:p>
          <a:p>
            <a:pPr algn="l"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R$ 297</a:t>
            </a:r>
            <a:r>
              <a:rPr sz="1500" b="0">
                <a:solidFill>
                  <a:srgbClr val="F5E3DA"/>
                </a:solidFill>
                <a:latin typeface="Segoe UI"/>
              </a:rPr>
              <a:t>/mês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>
                <a:solidFill>
                  <a:srgbClr val="FFFFFF"/>
                </a:solidFill>
                <a:latin typeface="Segoe UI"/>
              </a:rPr>
              <a:t>✓  </a:t>
            </a:r>
            <a:r>
              <a:rPr sz="1450" b="0">
                <a:solidFill>
                  <a:srgbClr val="FFFFFF"/>
                </a:solidFill>
                <a:latin typeface="Segoe UI"/>
              </a:rPr>
              <a:t>Até 10 vendedoras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>
                <a:solidFill>
                  <a:srgbClr val="FFFFFF"/>
                </a:solidFill>
                <a:latin typeface="Segoe UI"/>
              </a:rPr>
              <a:t>✓  </a:t>
            </a:r>
            <a:r>
              <a:rPr sz="1450" b="0">
                <a:solidFill>
                  <a:srgbClr val="FFFFFF"/>
                </a:solidFill>
                <a:latin typeface="Segoe UI"/>
              </a:rPr>
              <a:t>1 loja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>
                <a:solidFill>
                  <a:srgbClr val="FFFFFF"/>
                </a:solidFill>
                <a:latin typeface="Segoe UI"/>
              </a:rPr>
              <a:t>✓  </a:t>
            </a:r>
            <a:r>
              <a:rPr sz="1450" b="0">
                <a:solidFill>
                  <a:srgbClr val="FFFFFF"/>
                </a:solidFill>
                <a:latin typeface="Segoe UI"/>
              </a:rPr>
              <a:t>WhatsApp + disparos + IA básica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75904" y="1920240"/>
            <a:ext cx="3456432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4" y="2240280"/>
            <a:ext cx="2724911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2B2320"/>
                </a:solidFill>
                <a:latin typeface="Georgia"/>
              </a:rPr>
              <a:t>Elite</a:t>
            </a:r>
          </a:p>
          <a:p>
            <a:pPr algn="l">
              <a:spcAft>
                <a:spcPts val="1200"/>
              </a:spcAft>
            </a:pPr>
            <a:r>
              <a:rPr sz="3000" b="1">
                <a:solidFill>
                  <a:srgbClr val="2B2320"/>
                </a:solidFill>
                <a:latin typeface="Segoe UI"/>
              </a:rPr>
              <a:t>R$ 697</a:t>
            </a:r>
            <a:r>
              <a:rPr sz="1500" b="0">
                <a:solidFill>
                  <a:srgbClr val="7D716B"/>
                </a:solidFill>
                <a:latin typeface="Segoe UI"/>
              </a:rPr>
              <a:t>/mês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>
                <a:solidFill>
                  <a:srgbClr val="2E7D32"/>
                </a:solidFill>
                <a:latin typeface="Segoe UI"/>
              </a:rPr>
              <a:t>✓  </a:t>
            </a:r>
            <a:r>
              <a:rPr sz="1450" b="0">
                <a:solidFill>
                  <a:srgbClr val="2B2320"/>
                </a:solidFill>
                <a:latin typeface="Segoe UI"/>
              </a:rPr>
              <a:t>Vendedoras ilimitadas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>
                <a:solidFill>
                  <a:srgbClr val="2E7D32"/>
                </a:solidFill>
                <a:latin typeface="Segoe UI"/>
              </a:rPr>
              <a:t>✓  </a:t>
            </a:r>
            <a:r>
              <a:rPr sz="1450" b="0">
                <a:solidFill>
                  <a:srgbClr val="2B2320"/>
                </a:solidFill>
                <a:latin typeface="Segoe UI"/>
              </a:rPr>
              <a:t>Multi-lojas + rede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50" b="1">
                <a:solidFill>
                  <a:srgbClr val="2E7D32"/>
                </a:solidFill>
                <a:latin typeface="Segoe UI"/>
              </a:rPr>
              <a:t>✓  </a:t>
            </a:r>
            <a:r>
              <a:rPr sz="1450" b="0">
                <a:solidFill>
                  <a:srgbClr val="2B2320"/>
                </a:solidFill>
                <a:latin typeface="Segoe UI"/>
              </a:rPr>
              <a:t>IA avançada + Radar + Meta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5566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ModaCRM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7D716B"/>
                </a:solidFill>
                <a:latin typeface="Segoe U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25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86000"/>
            <a:ext cx="100584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3600" b="1">
                <a:solidFill>
                  <a:srgbClr val="FFFFFF"/>
                </a:solidFill>
                <a:latin typeface="Georgia"/>
              </a:rPr>
              <a:t>Vamos vestir sua operação de inteligência.</a:t>
            </a:r>
          </a:p>
          <a:p>
            <a:pPr algn="l">
              <a:spcAft>
                <a:spcPts val="2000"/>
              </a:spcAft>
            </a:pPr>
            <a:r>
              <a:rPr sz="1900" b="0">
                <a:solidFill>
                  <a:srgbClr val="D8CFC8"/>
                </a:solidFill>
                <a:latin typeface="Segoe UI"/>
              </a:rPr>
              <a:t>ModaCRM AI — vendas, relacionamento, estoque e IA em um só lugar.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E8A87C"/>
                </a:solidFill>
                <a:latin typeface="Segoe UI"/>
              </a:rPr>
              <a:t>Próximo passo: </a:t>
            </a:r>
            <a:r>
              <a:rPr sz="1600" b="0">
                <a:solidFill>
                  <a:srgbClr val="A89D96"/>
                </a:solidFill>
                <a:latin typeface="Segoe UI"/>
              </a:rPr>
              <a:t>Fase 8 — Billing SaaS (planos Start/Pro/Elite com cobrança recorrente).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5566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8F88"/>
                </a:solidFill>
                <a:latin typeface="Segoe UI"/>
              </a:rPr>
              <a:t>ModaCRM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8F88"/>
                </a:solidFill>
                <a:latin typeface="Segoe U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