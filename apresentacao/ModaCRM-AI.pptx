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Georgia"/>
              </a:rPr>
              <a:t>Moda</a:t>
            </a:r>
            <a:r>
              <a:rPr sz="6000" b="1">
                <a:solidFill>
                  <a:srgbClr val="C2552B"/>
                </a:solidFill>
                <a:latin typeface="Georgia"/>
              </a:rPr>
              <a:t>CRM</a:t>
            </a:r>
            <a:r>
              <a:rPr sz="6000" b="1">
                <a:solidFill>
                  <a:srgbClr val="FFFFFF"/>
                </a:solidFill>
                <a:latin typeface="Georgia"/>
              </a:rPr>
              <a:t> AI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D8CFC8"/>
                </a:solidFill>
                <a:latin typeface="Segoe UI"/>
              </a:rPr>
              <a:t>A plataforma de vendas, relacionamento e estoque para lojas de moda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A89D96"/>
                </a:solidFill>
                <a:latin typeface="Segoe UI"/>
              </a:rPr>
              <a:t>O “Salesforce da Moda” — </a:t>
            </a:r>
            <a:r>
              <a:rPr sz="1800" b="1">
                <a:solidFill>
                  <a:srgbClr val="E8A87C"/>
                </a:solidFill>
                <a:latin typeface="Segoe UI"/>
              </a:rPr>
              <a:t>CRM + WhatsApp + IA por vendedora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9D96"/>
                </a:solidFill>
                <a:latin typeface="Segoe UI"/>
              </a:rPr>
              <a:t>Demonstração do produto  ·  Fases 1 a 3 concluídas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POR QUE EXISTIMOS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A loja de moda perde venda no relacionamento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70916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B2320"/>
                </a:solidFill>
                <a:latin typeface="Georgia"/>
              </a:rPr>
              <a:t>🧩  Carteira na cabeça da vendedora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7D716B"/>
                </a:solidFill>
                <a:latin typeface="Segoe UI"/>
              </a:rPr>
              <a:t>Quando ela sai, os clientes vão junto. Nada fica registrado.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0916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B2320"/>
                </a:solidFill>
                <a:latin typeface="Georgia"/>
              </a:rPr>
              <a:t>💤  Cliente some e ninguém percebe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7D716B"/>
                </a:solidFill>
                <a:latin typeface="Segoe UI"/>
              </a:rPr>
              <a:t>Sem alerta de inatividade, a recompra simplesmente não acontece.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470916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B2320"/>
                </a:solidFill>
                <a:latin typeface="Georgia"/>
              </a:rPr>
              <a:t>📦  Estoque e vendas desconectados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7D716B"/>
                </a:solidFill>
                <a:latin typeface="Segoe UI"/>
              </a:rPr>
              <a:t>Grade por cor/tamanho no caderno; encalhe e ruptura passam batido.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470916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B2320"/>
                </a:solidFill>
                <a:latin typeface="Georgia"/>
              </a:rPr>
              <a:t>📣  Disparo genérico no WhatsApp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7D716B"/>
                </a:solidFill>
                <a:latin typeface="Segoe UI"/>
              </a:rPr>
              <a:t>Mesma mensagem para todo mundo — baixa conversão e descadastro.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Um sistema, toda a operação de moda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📊  Dashboard &amp; metas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828800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828800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🛒  Vendas + PDV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828800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828800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🏷️  Estoque em grade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90672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90672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👗  Carteira inteligente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3090672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090672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🤖  IA Vendedora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090672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3090672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📱  WhatsApp por vendedora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52544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52544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🎯  Disparos personalizados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4352544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4352544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🔁  Recuperação de inativos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4352544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4352544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🏆  Ranking &amp; comissão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14416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614416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🛍️  Catálogo da vendedora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5614416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5614416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🧥  Provador virtual 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5614416"/>
            <a:ext cx="34564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5614416"/>
            <a:ext cx="309067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📦  Atacado &amp; portal cliente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552B"/>
                </a:solidFill>
                <a:latin typeface="Segoe UI"/>
              </a:rPr>
              <a:t>★ Diferencial: </a:t>
            </a:r>
            <a:r>
              <a:rPr sz="1400" b="0">
                <a:solidFill>
                  <a:srgbClr val="7D716B"/>
                </a:solidFill>
                <a:latin typeface="Segoe UI"/>
              </a:rPr>
              <a:t>Radar de Oportunidades — cruza estoque parado × perfil do cliente e dispara em 1 clique.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COMO É CONSTRUÍDO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SaaS multi-tenant, isolado por hierarquia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965960" cy="868680"/>
          </a:xfrm>
          <a:prstGeom prst="roundRect">
            <a:avLst/>
          </a:prstGeom>
          <a:solidFill>
            <a:srgbClr val="C2552B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Rede / Marca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2344" y="2176272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2552B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201168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01168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320"/>
                </a:solidFill>
                <a:latin typeface="Segoe UI"/>
              </a:rPr>
              <a:t>Loja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2176272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2552B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201168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201168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320"/>
                </a:solidFill>
                <a:latin typeface="Segoe UI"/>
              </a:rPr>
              <a:t>Equipe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176272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2552B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201168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4616" y="201168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320"/>
                </a:solidFill>
                <a:latin typeface="Segoe UI"/>
              </a:rPr>
              <a:t>Vendedora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76272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2552B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201168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201168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2320"/>
                </a:solidFill>
                <a:latin typeface="Segoe UI"/>
              </a:rPr>
              <a:t>Cliente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2552B"/>
                </a:solidFill>
                <a:latin typeface="Segoe UI"/>
              </a:rPr>
              <a:t>Stack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7D716B"/>
                </a:solidFill>
                <a:latin typeface="Segoe UI"/>
              </a:rPr>
              <a:t>Node.js · Fastify · Prisma · PostgreSQL · React + Vite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2552B"/>
                </a:solidFill>
                <a:latin typeface="Segoe UI"/>
              </a:rPr>
              <a:t>Segurança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7D716B"/>
                </a:solidFill>
                <a:latin typeface="Segoe UI"/>
              </a:rPr>
              <a:t>JWT + RBAC; isolamento de carteira aplicado no backend, não só na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09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2552B"/>
                </a:solidFill>
                <a:latin typeface="Segoe UI"/>
              </a:rPr>
              <a:t>Integrações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7D716B"/>
                </a:solidFill>
                <a:latin typeface="Segoe UI"/>
              </a:rPr>
              <a:t>WhatsApp (Evolution API) · IA (Claude) · Instagram/Meta 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709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89204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2552B"/>
                </a:solidFill>
                <a:latin typeface="Segoe UI"/>
              </a:rPr>
              <a:t>Planos SaaS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7D716B"/>
                </a:solidFill>
                <a:latin typeface="Segoe UI"/>
              </a:rPr>
              <a:t>Start · Pro · Elite (multi-lojas) com limites aplicados no servidor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ONDE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7 fases entregues e rodando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1 — Fundação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Auth multi-tenant, RBAC, CRUD com grade (cor × tamanho).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04288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68296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2 — Vendas + Estoque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PDV com baixa atômica + dashboards hierárquicos.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80944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44951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3 — CRM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Carteira por vendedora + segmentação automática.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657600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721608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4 — WhatsApp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Disparos por segmento (IA) + réguas de inativos + webhook.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34256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34256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98264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5 — IA / Radar ★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Estoque inteligente + Radar de Oportunidades (1 clique).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10912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6 — Comissão + Gamificação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Comissão encadeada, ranking, mural.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87568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687568"/>
            <a:ext cx="11887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751576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1">
                <a:solidFill>
                  <a:srgbClr val="2B2320"/>
                </a:solidFill>
                <a:latin typeface="Georgia"/>
              </a:rPr>
              <a:t>Fase 7 — Expansão</a:t>
            </a:r>
            <a:r>
              <a:rPr sz="1250" b="0">
                <a:solidFill>
                  <a:srgbClr val="7D716B"/>
                </a:solidFill>
                <a:latin typeface="Segoe UI"/>
              </a:rPr>
              <a:t>   —   Provador Virtual IA + Atacado.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2552B"/>
                </a:solidFill>
                <a:latin typeface="Segoe UI"/>
              </a:rPr>
              <a:t>+ extras: </a:t>
            </a:r>
            <a:r>
              <a:rPr sz="1250" b="0">
                <a:solidFill>
                  <a:srgbClr val="7D716B"/>
                </a:solidFill>
                <a:latin typeface="Segoe UI"/>
              </a:rPr>
              <a:t>forma de recebimento · produto/moda · estoquista+entradas · transferências (radar de extravio) · gestão de estoquistas.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DEMONSTRAÇÃO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8CFC8"/>
                </a:solidFill>
                <a:latin typeface="Segoe UI"/>
              </a:rPr>
              <a:t>5 cenas · do gerente à vendedora à rede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ModaCRM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LOGINS PARA A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Acessos de teste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5720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65376"/>
            <a:ext cx="42062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Papel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65376"/>
            <a:ext cx="4023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E-mail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865376"/>
            <a:ext cx="23774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Senha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10515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86000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/>
            </a:r>
            <a:r>
              <a:rPr sz="1350" b="0">
                <a:solidFill>
                  <a:srgbClr val="2B2320"/>
                </a:solidFill>
                <a:latin typeface="Segoe UI"/>
              </a:rPr>
              <a:t>Super Admin ·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admin@modacrm.com.br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86000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admin123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F5E3DA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34640"/>
            <a:ext cx="91440" cy="54864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834640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>★ </a:t>
            </a:r>
            <a:r>
              <a:rPr sz="1350" b="1">
                <a:solidFill>
                  <a:srgbClr val="2B2320"/>
                </a:solidFill>
                <a:latin typeface="Segoe UI"/>
              </a:rPr>
              <a:t>Gestor · rede Luna Brand (ELITE)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3464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gestor@lunabrand.com.br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gestor123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383280"/>
            <a:ext cx="10515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83280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/>
            </a:r>
            <a:r>
              <a:rPr sz="1350" b="0">
                <a:solidFill>
                  <a:srgbClr val="2B2320"/>
                </a:solidFill>
                <a:latin typeface="Segoe UI"/>
              </a:rPr>
              <a:t>Estoquista · rede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3832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estoquista@lunabrand.com.br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83280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estoque123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31920"/>
            <a:ext cx="10515600" cy="548640"/>
          </a:xfrm>
          <a:prstGeom prst="roundRect">
            <a:avLst/>
          </a:prstGeom>
          <a:solidFill>
            <a:srgbClr val="F5E3DA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931920"/>
            <a:ext cx="91440" cy="54864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931920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>★ </a:t>
            </a:r>
            <a:r>
              <a:rPr sz="1350" b="1">
                <a:solidFill>
                  <a:srgbClr val="2B2320"/>
                </a:solidFill>
                <a:latin typeface="Segoe UI"/>
              </a:rPr>
              <a:t>Gerente · Loja Demo Moda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maria@lojademo.com.br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931920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demo123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80559"/>
            <a:ext cx="10515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80559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/>
            </a:r>
            <a:r>
              <a:rPr sz="1350" b="0">
                <a:solidFill>
                  <a:srgbClr val="2B2320"/>
                </a:solidFill>
                <a:latin typeface="Segoe UI"/>
              </a:rPr>
              <a:t>Gerente · Loja Shopping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480559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paula@lojashopping.com.br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480559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demo123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029199"/>
            <a:ext cx="10515600" cy="548640"/>
          </a:xfrm>
          <a:prstGeom prst="roundRect">
            <a:avLst/>
          </a:prstGeom>
          <a:solidFill>
            <a:srgbClr val="F5E3DA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029199"/>
            <a:ext cx="91440" cy="54864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029199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>★ </a:t>
            </a:r>
            <a:r>
              <a:rPr sz="1350" b="1">
                <a:solidFill>
                  <a:srgbClr val="2B2320"/>
                </a:solidFill>
                <a:latin typeface="Segoe UI"/>
              </a:rPr>
              <a:t>Vendedora · Demo Moda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029199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camila@lojademo.com.br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029199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demo123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577839"/>
            <a:ext cx="10515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577839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/>
            </a:r>
            <a:r>
              <a:rPr sz="1350" b="0">
                <a:solidFill>
                  <a:srgbClr val="2B2320"/>
                </a:solidFill>
                <a:latin typeface="Segoe UI"/>
              </a:rPr>
              <a:t>Vendedora · Demo Moda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577839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ana@lojademo.com.br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577839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demo123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6126479"/>
            <a:ext cx="10515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6126479"/>
            <a:ext cx="4206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/>
            </a:r>
            <a:r>
              <a:rPr sz="1350" b="0">
                <a:solidFill>
                  <a:srgbClr val="2B2320"/>
                </a:solidFill>
                <a:latin typeface="Segoe UI"/>
              </a:rPr>
              <a:t>Vendedora · Loja Shopping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126479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320"/>
                </a:solidFill>
                <a:latin typeface="Segoe UI"/>
              </a:rPr>
              <a:t>julia@lojashopping.com.br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126479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Consolas"/>
              </a:rPr>
              <a:t>demo123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839711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2552B"/>
                </a:solidFill>
                <a:latin typeface="Segoe UI"/>
              </a:rPr>
              <a:t>★ usados na demo  ·  </a:t>
            </a:r>
            <a:r>
              <a:rPr sz="1350" b="0">
                <a:solidFill>
                  <a:srgbClr val="7D716B"/>
                </a:solidFill>
                <a:latin typeface="Segoe UI"/>
              </a:rPr>
              <a:t>abra http://localhost:5184  ·  sequência: Maria → Camila → Gestor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DEMO 1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20"/>
                </a:solidFill>
                <a:latin typeface="Georgia"/>
              </a:rPr>
              <a:t>Dashboard do gerente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Faturamento do dia e do mês, ticket médio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Ranking de vendedoras com % da meta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Produtos mais vendidos e melhores clientes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Estoque crítico destacado automaticamente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65960"/>
            <a:ext cx="3566160" cy="1371600"/>
          </a:xfrm>
          <a:prstGeom prst="roundRect">
            <a:avLst/>
          </a:prstGeom>
          <a:solidFill>
            <a:srgbClr val="F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21408"/>
            <a:ext cx="3154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552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Maria · Gerente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D716B"/>
                </a:solidFill>
                <a:latin typeface="Segoe UI"/>
              </a:rPr>
              <a:t>maria@lojademo.com.br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20440"/>
            <a:ext cx="3566160" cy="265176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703320"/>
            <a:ext cx="3154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A87C"/>
                </a:solidFill>
                <a:latin typeface="Segoe UI"/>
              </a:rPr>
              <a:t>💡 PONTO-CHAVE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Em uma tela, a gerente vê a saúde da loja e quem está perto (ou longe) da meta.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DEMO 2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20"/>
                </a:solidFill>
                <a:latin typeface="Georgia"/>
              </a:rPr>
              <a:t>Vender e baixar estoque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Nova venda: cliente, vendedora e itens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Variação por cor/tamanho com estoque à vista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Preço varejo ou atacado, desconto e total ao vivo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Ao salvar, o estoque baixa por SKU na hora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65960"/>
            <a:ext cx="3566160" cy="1371600"/>
          </a:xfrm>
          <a:prstGeom prst="roundRect">
            <a:avLst/>
          </a:prstGeom>
          <a:solidFill>
            <a:srgbClr val="F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21408"/>
            <a:ext cx="3154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552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Maria · Gerente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D716B"/>
                </a:solidFill>
                <a:latin typeface="Segoe UI"/>
              </a:rPr>
              <a:t>maria@lojademo.com.br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20440"/>
            <a:ext cx="3566160" cy="265176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703320"/>
            <a:ext cx="3154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A87C"/>
                </a:solidFill>
                <a:latin typeface="Segoe UI"/>
              </a:rPr>
              <a:t>💡 PONTO-CHAVE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Venda e estoque deixam de ser dois mundos: cada venda movimenta o SKU e alimenta o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DEMO 3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20"/>
                </a:solidFill>
                <a:latin typeface="Georgia"/>
              </a:rPr>
              <a:t>Segmentação automática (CRM)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Carteira mostra a distribuição por segmento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Clique em “Recalcular segmentação”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Clientes se reclassificam pelo histórico real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Abra uma ficha: histórico + alerta de recuperação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65960"/>
            <a:ext cx="3566160" cy="1371600"/>
          </a:xfrm>
          <a:prstGeom prst="roundRect">
            <a:avLst/>
          </a:prstGeom>
          <a:solidFill>
            <a:srgbClr val="F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21408"/>
            <a:ext cx="3154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552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Maria · Gerente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D716B"/>
                </a:solidFill>
                <a:latin typeface="Segoe UI"/>
              </a:rPr>
              <a:t>maria@lojademo.com.br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20440"/>
            <a:ext cx="3566160" cy="265176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703320"/>
            <a:ext cx="3154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A87C"/>
                </a:solidFill>
                <a:latin typeface="Segoe UI"/>
              </a:rPr>
              <a:t>💡 PONTO-CHAVE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O sistema lê as compras e decide sozinho quem é VIP, Frequente, Novo, Atacado ou Inativo — e aponta quem recuperar.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DEMO 4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20"/>
                </a:solidFill>
                <a:latin typeface="Georgia"/>
              </a:rPr>
              <a:t>Isolamento da carteira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Login como vendedora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Vê apenas os próprios clientes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Dashboard mostra só o desempenho dela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Não acessa vendas/carteira das colegas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65960"/>
            <a:ext cx="3566160" cy="1371600"/>
          </a:xfrm>
          <a:prstGeom prst="roundRect">
            <a:avLst/>
          </a:prstGeom>
          <a:solidFill>
            <a:srgbClr val="F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21408"/>
            <a:ext cx="3154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552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Camila · Vendedora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D716B"/>
                </a:solidFill>
                <a:latin typeface="Segoe UI"/>
              </a:rPr>
              <a:t>camila@lojademo.com.br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20440"/>
            <a:ext cx="3566160" cy="265176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703320"/>
            <a:ext cx="3154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A87C"/>
                </a:solidFill>
                <a:latin typeface="Segoe UI"/>
              </a:rPr>
              <a:t>💡 PONTO-CHAVE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Privacidade da carteira garantida no backend — não é só esconder na tela. Confiança da equipe.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DEMO 5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20"/>
                </a:solidFill>
                <a:latin typeface="Georgia"/>
              </a:rPr>
              <a:t>Visão da rede (multi-lojas)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Login como gestor da marca (plano Elite)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Consolidado de faturamento da rede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Comparativo loja a loja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C2552B"/>
                </a:solidFill>
                <a:latin typeface="Segoe UI"/>
              </a:rPr>
              <a:t>●  </a:t>
            </a:r>
            <a:r>
              <a:rPr sz="1700" b="0">
                <a:solidFill>
                  <a:srgbClr val="2B2320"/>
                </a:solidFill>
                <a:latin typeface="Segoe UI"/>
              </a:rPr>
              <a:t>Drill-down para o dashboard de cada loja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965960"/>
            <a:ext cx="3566160" cy="1371600"/>
          </a:xfrm>
          <a:prstGeom prst="roundRect">
            <a:avLst/>
          </a:prstGeom>
          <a:solidFill>
            <a:srgbClr val="F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21408"/>
            <a:ext cx="3154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552B"/>
                </a:solidFill>
                <a:latin typeface="Segoe UI"/>
              </a:rPr>
              <a:t>PERSONA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2B2320"/>
                </a:solidFill>
                <a:latin typeface="Segoe UI"/>
              </a:rPr>
              <a:t>Gustavo · Gestor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D716B"/>
                </a:solidFill>
                <a:latin typeface="Segoe UI"/>
              </a:rPr>
              <a:t>gestor@lunabrand.com.br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20440"/>
            <a:ext cx="3566160" cy="2651760"/>
          </a:xfrm>
          <a:prstGeom prst="round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703320"/>
            <a:ext cx="3154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A87C"/>
                </a:solidFill>
                <a:latin typeface="Segoe UI"/>
              </a:rPr>
              <a:t>💡 PONTO-CHAVE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Do balcão à rede: a marca enxerga todas as lojas em um só painel, com isolamento por loja preservado.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O 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★ Radar de Oportunidades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456432" cy="2468880"/>
          </a:xfrm>
          <a:prstGeom prst="roundRect">
            <a:avLst/>
          </a:prstGeom>
          <a:solidFill>
            <a:srgbClr val="39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39"/>
            <a:ext cx="28163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552B"/>
                </a:solidFill>
                <a:latin typeface="Georgia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Estoque parado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0">
                <a:solidFill>
                  <a:srgbClr val="D8CFC8"/>
                </a:solidFill>
                <a:latin typeface="Segoe UI"/>
              </a:rPr>
              <a:t>A IA identifica peças encalhadas e em risco de ruptura.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2103120"/>
            <a:ext cx="3456432" cy="2468880"/>
          </a:xfrm>
          <a:prstGeom prst="roundRect">
            <a:avLst/>
          </a:prstGeom>
          <a:solidFill>
            <a:srgbClr val="39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2377439"/>
            <a:ext cx="28163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552B"/>
                </a:solidFill>
                <a:latin typeface="Georgia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Perfil do cliente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0">
                <a:solidFill>
                  <a:srgbClr val="D8CFC8"/>
                </a:solidFill>
                <a:latin typeface="Segoe UI"/>
              </a:rPr>
              <a:t>Cruza com quem compra aquele estilo, cor, tamanho ou marca.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2103120"/>
            <a:ext cx="3456432" cy="2468880"/>
          </a:xfrm>
          <a:prstGeom prst="roundRect">
            <a:avLst/>
          </a:prstGeom>
          <a:solidFill>
            <a:srgbClr val="39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95944" y="2377439"/>
            <a:ext cx="28163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552B"/>
                </a:solidFill>
                <a:latin typeface="Georgia"/>
              </a:rPr>
              <a:t>3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Disparo em 1 clique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0">
                <a:solidFill>
                  <a:srgbClr val="D8CFC8"/>
                </a:solidFill>
                <a:latin typeface="Segoe UI"/>
              </a:rPr>
              <a:t>Gera a campanha de WhatsApp personalizada e envia pela vendedora dona.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A87C"/>
                </a:solidFill>
                <a:latin typeface="Segoe UI"/>
              </a:rPr>
              <a:t>Transforma estoque parado em receita — a oportunidade certa, para o cliente certo, pela vendedora certa.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ModaCRM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52B"/>
                </a:solidFill>
                <a:latin typeface="Segoe UI"/>
              </a:rPr>
              <a:t>MODELO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2320"/>
                </a:solidFill>
                <a:latin typeface="Georgia"/>
              </a:rPr>
              <a:t>SaaS recorrente, por porte da operação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011680" cy="64008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45643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2724911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B2320"/>
                </a:solidFill>
                <a:latin typeface="Georgia"/>
              </a:rPr>
              <a:t>Start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2B2320"/>
                </a:solidFill>
                <a:latin typeface="Segoe UI"/>
              </a:rPr>
              <a:t>R$ 97</a:t>
            </a:r>
            <a:r>
              <a:rPr sz="1500" b="0">
                <a:solidFill>
                  <a:srgbClr val="7D716B"/>
                </a:solidFill>
                <a:latin typeface="Segoe UI"/>
              </a:rPr>
              <a:t>/mês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Até 2 vendedoras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1 loja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CRM + Vendas + Estoque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1920240"/>
            <a:ext cx="3456432" cy="3840480"/>
          </a:xfrm>
          <a:prstGeom prst="round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2240280"/>
            <a:ext cx="2724911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MAIS POPULAR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Pro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R$ 297</a:t>
            </a:r>
            <a:r>
              <a:rPr sz="1500" b="0">
                <a:solidFill>
                  <a:srgbClr val="F5E3DA"/>
                </a:solidFill>
                <a:latin typeface="Segoe UI"/>
              </a:rPr>
              <a:t>/mês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✓  </a:t>
            </a:r>
            <a:r>
              <a:rPr sz="1450" b="0">
                <a:solidFill>
                  <a:srgbClr val="FFFFFF"/>
                </a:solidFill>
                <a:latin typeface="Segoe UI"/>
              </a:rPr>
              <a:t>Até 10 vendedoras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✓  </a:t>
            </a:r>
            <a:r>
              <a:rPr sz="1450" b="0">
                <a:solidFill>
                  <a:srgbClr val="FFFFFF"/>
                </a:solidFill>
                <a:latin typeface="Segoe UI"/>
              </a:rPr>
              <a:t>1 loja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✓  </a:t>
            </a:r>
            <a:r>
              <a:rPr sz="1450" b="0">
                <a:solidFill>
                  <a:srgbClr val="FFFFFF"/>
                </a:solidFill>
                <a:latin typeface="Segoe UI"/>
              </a:rPr>
              <a:t>WhatsApp + disparos + IA básica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1920240"/>
            <a:ext cx="345643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2240280"/>
            <a:ext cx="2724911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B2320"/>
                </a:solidFill>
                <a:latin typeface="Georgia"/>
              </a:rPr>
              <a:t>Elite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2B2320"/>
                </a:solidFill>
                <a:latin typeface="Segoe UI"/>
              </a:rPr>
              <a:t>R$ 697</a:t>
            </a:r>
            <a:r>
              <a:rPr sz="1500" b="0">
                <a:solidFill>
                  <a:srgbClr val="7D716B"/>
                </a:solidFill>
                <a:latin typeface="Segoe UI"/>
              </a:rPr>
              <a:t>/mês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Vendedoras ilimitadas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Multi-lojas + rede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2E7D32"/>
                </a:solidFill>
                <a:latin typeface="Segoe UI"/>
              </a:rPr>
              <a:t>✓  </a:t>
            </a:r>
            <a:r>
              <a:rPr sz="1450" b="0">
                <a:solidFill>
                  <a:srgbClr val="2B2320"/>
                </a:solidFill>
                <a:latin typeface="Segoe UI"/>
              </a:rPr>
              <a:t>IA avançada + Radar + Meta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ModaCRM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D716B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Vamos vestir sua operação de inteligência.</a:t>
            </a:r>
          </a:p>
          <a:p>
            <a:pPr algn="l">
              <a:spcAft>
                <a:spcPts val="2000"/>
              </a:spcAft>
            </a:pPr>
            <a:r>
              <a:rPr sz="1900" b="0">
                <a:solidFill>
                  <a:srgbClr val="D8CFC8"/>
                </a:solidFill>
                <a:latin typeface="Segoe UI"/>
              </a:rPr>
              <a:t>ModaCRM AI — vendas, relacionamento, estoque e IA em um só lugar.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A87C"/>
                </a:solidFill>
                <a:latin typeface="Segoe UI"/>
              </a:rPr>
              <a:t>Próximo passo: </a:t>
            </a:r>
            <a:r>
              <a:rPr sz="1600" b="0">
                <a:solidFill>
                  <a:srgbClr val="A89D96"/>
                </a:solidFill>
                <a:latin typeface="Segoe UI"/>
              </a:rPr>
              <a:t>Fase 8 — Billing SaaS (planos Start/Pro/Elite com cobrança recorrente).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ModaCRM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8F88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